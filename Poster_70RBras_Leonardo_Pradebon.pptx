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84" r:id="rId2"/>
  </p:sldIdLst>
  <p:sldSz cx="30275213" cy="42803763"/>
  <p:notesSz cx="6858000" cy="9144000"/>
  <p:embeddedFontLst>
    <p:embeddedFont>
      <p:font typeface="Montserrat" panose="00000500000000000000" pitchFamily="2" charset="0"/>
      <p:regular r:id="rId4"/>
      <p:bold r:id="rId5"/>
      <p: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747775"/>
          </p15:clr>
        </p15:guide>
        <p15:guide id="2" pos="9536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uNZkogAB/CN/imsWn4Bz65gM4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8FB"/>
    <a:srgbClr val="073A70"/>
    <a:srgbClr val="F9B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29"/>
  </p:normalViewPr>
  <p:slideViewPr>
    <p:cSldViewPr snapToGrid="0">
      <p:cViewPr>
        <p:scale>
          <a:sx n="40" d="100"/>
          <a:sy n="40" d="100"/>
        </p:scale>
        <p:origin x="-270" y="-1578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627" y="685800"/>
            <a:ext cx="2425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5425" tIns="455425" rIns="455425" bIns="455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800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sz="13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marR="0" lvl="0" indent="-800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Font typeface="Arial"/>
              <a:buChar char="●"/>
              <a:defRPr sz="9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○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■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○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■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○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73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■"/>
              <a:defRPr sz="7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0" y="-304802"/>
            <a:ext cx="30276000" cy="6858598"/>
          </a:xfrm>
          <a:prstGeom prst="rect">
            <a:avLst/>
          </a:prstGeom>
          <a:solidFill>
            <a:srgbClr val="073A70"/>
          </a:solidFill>
          <a:ln w="9525" cap="flat" cmpd="sng">
            <a:solidFill>
              <a:srgbClr val="073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5;p1">
            <a:extLst>
              <a:ext uri="{FF2B5EF4-FFF2-40B4-BE49-F238E27FC236}">
                <a16:creationId xmlns:a16="http://schemas.microsoft.com/office/drawing/2014/main" id="{05F82EB6-C906-ACB3-43D9-1677D4112158}"/>
              </a:ext>
            </a:extLst>
          </p:cNvPr>
          <p:cNvSpPr/>
          <p:nvPr/>
        </p:nvSpPr>
        <p:spPr>
          <a:xfrm>
            <a:off x="0" y="6556250"/>
            <a:ext cx="30276000" cy="236981"/>
          </a:xfrm>
          <a:prstGeom prst="rect">
            <a:avLst/>
          </a:prstGeom>
          <a:solidFill>
            <a:srgbClr val="F9BD38"/>
          </a:solidFill>
          <a:ln w="9525" cap="flat" cmpd="sng">
            <a:solidFill>
              <a:srgbClr val="F9BD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5;p1">
            <a:extLst>
              <a:ext uri="{FF2B5EF4-FFF2-40B4-BE49-F238E27FC236}">
                <a16:creationId xmlns:a16="http://schemas.microsoft.com/office/drawing/2014/main" id="{4A2194E2-E1A5-E020-C7CB-6582A9FD49DE}"/>
              </a:ext>
            </a:extLst>
          </p:cNvPr>
          <p:cNvSpPr/>
          <p:nvPr/>
        </p:nvSpPr>
        <p:spPr>
          <a:xfrm>
            <a:off x="0" y="41770300"/>
            <a:ext cx="30276000" cy="1084771"/>
          </a:xfrm>
          <a:prstGeom prst="rect">
            <a:avLst/>
          </a:prstGeom>
          <a:solidFill>
            <a:srgbClr val="073A70"/>
          </a:solidFill>
          <a:ln w="9525" cap="flat" cmpd="sng">
            <a:solidFill>
              <a:srgbClr val="073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u="none" strike="noStrike" cap="none" dirty="0">
              <a:sym typeface="Arial"/>
            </a:endParaRPr>
          </a:p>
        </p:txBody>
      </p:sp>
      <p:sp>
        <p:nvSpPr>
          <p:cNvPr id="23" name="Google Shape;61;p1">
            <a:extLst>
              <a:ext uri="{FF2B5EF4-FFF2-40B4-BE49-F238E27FC236}">
                <a16:creationId xmlns:a16="http://schemas.microsoft.com/office/drawing/2014/main" id="{2CBE216C-4A18-A119-4266-0BBB90324ECA}"/>
              </a:ext>
            </a:extLst>
          </p:cNvPr>
          <p:cNvSpPr txBox="1"/>
          <p:nvPr/>
        </p:nvSpPr>
        <p:spPr>
          <a:xfrm>
            <a:off x="6570920" y="1133074"/>
            <a:ext cx="17623465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Aft>
                <a:spcPts val="1800"/>
              </a:spcAft>
            </a:pPr>
            <a:r>
              <a:rPr lang="pt-BR" sz="5400" b="1" dirty="0">
                <a:solidFill>
                  <a:srgbClr val="FFFFFF"/>
                </a:solidFill>
                <a:latin typeface="Montserrat"/>
              </a:rPr>
              <a:t>Tamanho ótimo de parcela para avaliar a massa de pluma de cultivares de algodão com comparação entre dois métodos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pt-BR" sz="2800" b="1" dirty="0">
              <a:solidFill>
                <a:srgbClr val="F4F4F4"/>
              </a:solidFill>
              <a:latin typeface="Montserrat"/>
            </a:endParaRPr>
          </a:p>
          <a:p>
            <a:pPr algn="ctr">
              <a:spcAft>
                <a:spcPts val="1800"/>
              </a:spcAft>
            </a:pPr>
            <a:r>
              <a:rPr lang="pt-BR" sz="2800" dirty="0">
                <a:solidFill>
                  <a:srgbClr val="F4F4F4"/>
                </a:solidFill>
                <a:latin typeface="Montserrat"/>
              </a:rPr>
              <a:t>Leonardo Cesar Pradebon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1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Alberto </a:t>
            </a:r>
            <a:r>
              <a:rPr lang="pt-BR" sz="2800" dirty="0" err="1">
                <a:solidFill>
                  <a:srgbClr val="F4F4F4"/>
                </a:solidFill>
                <a:latin typeface="Montserrat"/>
              </a:rPr>
              <a:t>Cargnelutti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Filho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2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</a:t>
            </a:r>
            <a:r>
              <a:rPr lang="pt-BR" sz="2800" b="1" dirty="0">
                <a:solidFill>
                  <a:srgbClr val="F4F4F4"/>
                </a:solidFill>
                <a:latin typeface="Montserrat"/>
              </a:rPr>
              <a:t>Lais Cherobini</a:t>
            </a:r>
            <a:r>
              <a:rPr lang="pt-BR" sz="2800" b="1" baseline="30000" dirty="0">
                <a:solidFill>
                  <a:srgbClr val="F4F4F4"/>
                </a:solidFill>
                <a:latin typeface="Montserrat"/>
              </a:rPr>
              <a:t>1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Mikael Brum dos Reis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1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</a:t>
            </a:r>
            <a:r>
              <a:rPr lang="pt-BR" sz="2800" dirty="0" err="1">
                <a:solidFill>
                  <a:srgbClr val="F4F4F4"/>
                </a:solidFill>
                <a:latin typeface="Montserrat"/>
              </a:rPr>
              <a:t>Alissa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Frigotto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1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Debora Luiza Pozzebon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3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Manoela </a:t>
            </a:r>
            <a:r>
              <a:rPr lang="pt-BR" sz="2800" dirty="0" err="1">
                <a:solidFill>
                  <a:srgbClr val="F4F4F4"/>
                </a:solidFill>
                <a:latin typeface="Montserrat"/>
              </a:rPr>
              <a:t>Conterato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Della Pace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3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Otávio de Almeida Pozzobon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3</a:t>
            </a:r>
            <a:r>
              <a:rPr lang="pt-BR" sz="2800" dirty="0">
                <a:solidFill>
                  <a:srgbClr val="F4F4F4"/>
                </a:solidFill>
                <a:latin typeface="Montserrat"/>
              </a:rPr>
              <a:t> · Ana Clara Marczinski</a:t>
            </a:r>
            <a:r>
              <a:rPr lang="pt-BR" sz="2800" baseline="30000" dirty="0">
                <a:solidFill>
                  <a:srgbClr val="F4F4F4"/>
                </a:solidFill>
                <a:latin typeface="Montserrat"/>
              </a:rPr>
              <a:t>3</a:t>
            </a:r>
          </a:p>
          <a:p>
            <a:pPr algn="ctr">
              <a:spcAft>
                <a:spcPts val="600"/>
              </a:spcAft>
            </a:pPr>
            <a:r>
              <a:rPr lang="pt-BR" sz="2400" baseline="30000" dirty="0">
                <a:solidFill>
                  <a:srgbClr val="F4F4F4"/>
                </a:solidFill>
                <a:latin typeface="Montserrat"/>
              </a:rPr>
              <a:t>1</a:t>
            </a:r>
            <a:r>
              <a:rPr lang="pt-BR" sz="2400" dirty="0">
                <a:solidFill>
                  <a:srgbClr val="F4F4F4"/>
                </a:solidFill>
                <a:latin typeface="Montserrat"/>
              </a:rPr>
              <a:t>Programa de Pós-Graduação em Agronomia - Universidade Federal de Santa Maria - leonardopradebon@gmail.com; laischerobini@gmail.com; eng.mikaelbrum@gmail.com; alissafrigotto@gmail.com   </a:t>
            </a:r>
            <a:r>
              <a:rPr lang="pt-BR" sz="2400" baseline="30000" dirty="0">
                <a:solidFill>
                  <a:srgbClr val="F4F4F4"/>
                </a:solidFill>
                <a:latin typeface="Montserrat"/>
              </a:rPr>
              <a:t>2</a:t>
            </a:r>
            <a:r>
              <a:rPr lang="pt-BR" sz="2400" dirty="0">
                <a:solidFill>
                  <a:srgbClr val="F4F4F4"/>
                </a:solidFill>
                <a:latin typeface="Montserrat"/>
              </a:rPr>
              <a:t>IDepartamento de Fitotecnia - Universidade Federal de Santa Maria - alberto.cargnelutti.filho@gmail.com  </a:t>
            </a:r>
            <a:r>
              <a:rPr lang="pt-BR" sz="2400" baseline="30000" dirty="0">
                <a:solidFill>
                  <a:srgbClr val="F4F4F4"/>
                </a:solidFill>
                <a:latin typeface="Montserrat"/>
              </a:rPr>
              <a:t>3</a:t>
            </a:r>
            <a:r>
              <a:rPr lang="pt-BR" sz="2400" dirty="0">
                <a:solidFill>
                  <a:srgbClr val="F4F4F4"/>
                </a:solidFill>
                <a:latin typeface="Montserrat"/>
              </a:rPr>
              <a:t>Curso de Graduação em Agronomia - Universidade Federal de Santa Maria - debora.pozzebon@acad.ufsm.br; manoelaconterato@gmail.com; otaviopozzobon2@gmail.com; anaclaramarczinski@gmail.com</a:t>
            </a: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pt-BR" sz="2800" dirty="0">
              <a:solidFill>
                <a:srgbClr val="F4F4F4"/>
              </a:solidFill>
              <a:latin typeface="Montserrat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6EB47A44-1844-F47B-1A6E-2FCC85251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1" y="268047"/>
            <a:ext cx="6602401" cy="6074209"/>
          </a:xfrm>
          <a:prstGeom prst="rect">
            <a:avLst/>
          </a:prstGeom>
        </p:spPr>
      </p:pic>
      <p:sp>
        <p:nvSpPr>
          <p:cNvPr id="3" name="Google Shape;55;p1">
            <a:extLst>
              <a:ext uri="{FF2B5EF4-FFF2-40B4-BE49-F238E27FC236}">
                <a16:creationId xmlns:a16="http://schemas.microsoft.com/office/drawing/2014/main" id="{DE30A562-86FF-A013-FFB6-E0411DAFBF5A}"/>
              </a:ext>
            </a:extLst>
          </p:cNvPr>
          <p:cNvSpPr/>
          <p:nvPr/>
        </p:nvSpPr>
        <p:spPr>
          <a:xfrm>
            <a:off x="-7095" y="41529000"/>
            <a:ext cx="30276000" cy="236981"/>
          </a:xfrm>
          <a:prstGeom prst="rect">
            <a:avLst/>
          </a:prstGeom>
          <a:solidFill>
            <a:srgbClr val="F9BD38"/>
          </a:solidFill>
          <a:ln w="9525" cap="flat" cmpd="sng">
            <a:solidFill>
              <a:srgbClr val="F9BD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FD5CD9-57F8-8A81-3294-C428EED688AA}"/>
              </a:ext>
            </a:extLst>
          </p:cNvPr>
          <p:cNvSpPr txBox="1"/>
          <p:nvPr/>
        </p:nvSpPr>
        <p:spPr>
          <a:xfrm>
            <a:off x="14010513" y="42024300"/>
            <a:ext cx="218770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100" dirty="0">
                <a:solidFill>
                  <a:schemeClr val="bg1"/>
                </a:solidFill>
                <a:latin typeface="Montserrat" pitchFamily="2" charset="77"/>
              </a:rPr>
              <a:t>70</a:t>
            </a:r>
            <a:r>
              <a:rPr lang="pt-BR" sz="3100" baseline="30000" dirty="0">
                <a:solidFill>
                  <a:schemeClr val="bg1"/>
                </a:solidFill>
                <a:latin typeface="Montserrat" pitchFamily="2" charset="77"/>
              </a:rPr>
              <a:t>ª</a:t>
            </a:r>
            <a:r>
              <a:rPr lang="pt-BR" sz="3100" dirty="0">
                <a:solidFill>
                  <a:schemeClr val="bg1"/>
                </a:solidFill>
                <a:latin typeface="Montserrat" pitchFamily="2" charset="77"/>
              </a:rPr>
              <a:t>RBras</a:t>
            </a:r>
            <a:endParaRPr lang="pt-BR" sz="3100" baseline="300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200" name="Faixa mensagem principal"/>
          <p:cNvSpPr/>
          <p:nvPr/>
        </p:nvSpPr>
        <p:spPr>
          <a:xfrm>
            <a:off x="914400" y="7493000"/>
            <a:ext cx="28448000" cy="5842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201" name="Barra mensagem"/>
          <p:cNvSpPr/>
          <p:nvPr/>
        </p:nvSpPr>
        <p:spPr>
          <a:xfrm>
            <a:off x="914400" y="7493000"/>
            <a:ext cx="304800" cy="5842000"/>
          </a:xfrm>
          <a:prstGeom prst="rect">
            <a:avLst/>
          </a:prstGeom>
          <a:solidFill>
            <a:srgbClr val="F9BD3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202" name="Mensagem principal"/>
          <p:cNvSpPr txBox="1"/>
          <p:nvPr/>
        </p:nvSpPr>
        <p:spPr>
          <a:xfrm>
            <a:off x="1905000" y="8001000"/>
            <a:ext cx="21590000" cy="482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pt-BR" sz="2800" b="1" spc="300" dirty="0">
                <a:solidFill>
                  <a:srgbClr val="52606D"/>
                </a:solidFill>
                <a:latin typeface="Montserrat"/>
              </a:rPr>
              <a:t>MENSAGEM PRINCIPAL</a:t>
            </a:r>
          </a:p>
          <a:p>
            <a:pPr marL="0" indent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 b="1" dirty="0">
                <a:solidFill>
                  <a:srgbClr val="073A70"/>
                </a:solidFill>
                <a:latin typeface="Montserrat"/>
              </a:rPr>
              <a:t>o tamanho ótimo de parcela para avaliar a massa de pluma de algodão é 12,45 m</a:t>
            </a:r>
            <a:r>
              <a:rPr lang="pt-BR" sz="6600" b="1" baseline="30000" dirty="0">
                <a:solidFill>
                  <a:srgbClr val="073A70"/>
                </a:solidFill>
                <a:latin typeface="Montserrat"/>
              </a:rPr>
              <a:t>2</a:t>
            </a:r>
            <a:r>
              <a:rPr lang="pt-BR" sz="6600" b="1" dirty="0">
                <a:solidFill>
                  <a:srgbClr val="073A70"/>
                </a:solidFill>
                <a:latin typeface="Montserrat"/>
              </a:rPr>
              <a:t>.</a:t>
            </a:r>
          </a:p>
        </p:txBody>
      </p:sp>
      <p:sp>
        <p:nvSpPr>
          <p:cNvPr id="203" name="QR code (substituir)"/>
          <p:cNvSpPr/>
          <p:nvPr/>
        </p:nvSpPr>
        <p:spPr>
          <a:xfrm>
            <a:off x="24485600" y="7937500"/>
            <a:ext cx="4191000" cy="4191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73A70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200" b="1" dirty="0">
              <a:solidFill>
                <a:srgbClr val="073A70"/>
              </a:solidFill>
              <a:latin typeface="Montserrat"/>
            </a:endParaRPr>
          </a:p>
        </p:txBody>
      </p:sp>
      <p:sp>
        <p:nvSpPr>
          <p:cNvPr id="204" name="Legenda QR"/>
          <p:cNvSpPr txBox="1"/>
          <p:nvPr/>
        </p:nvSpPr>
        <p:spPr>
          <a:xfrm>
            <a:off x="24003000" y="12255500"/>
            <a:ext cx="5156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52606D"/>
                </a:solidFill>
                <a:latin typeface="Montserrat"/>
              </a:rPr>
              <a:t>Artigo · código · dados</a:t>
            </a:r>
          </a:p>
        </p:txBody>
      </p:sp>
      <p:sp>
        <p:nvSpPr>
          <p:cNvPr id="205" name="Marcador seção"/>
          <p:cNvSpPr/>
          <p:nvPr/>
        </p:nvSpPr>
        <p:spPr>
          <a:xfrm>
            <a:off x="914400" y="14351000"/>
            <a:ext cx="203200" cy="736600"/>
          </a:xfrm>
          <a:prstGeom prst="rect">
            <a:avLst/>
          </a:prstGeom>
          <a:solidFill>
            <a:srgbClr val="F9BD3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206" name="Título seção: 1  Pergunta"/>
          <p:cNvSpPr txBox="1"/>
          <p:nvPr/>
        </p:nvSpPr>
        <p:spPr>
          <a:xfrm>
            <a:off x="1371600" y="14224000"/>
            <a:ext cx="10972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rgbClr val="073A70"/>
                </a:solidFill>
                <a:latin typeface="Montserrat"/>
              </a:rPr>
              <a:t>1  Introdução</a:t>
            </a:r>
          </a:p>
        </p:txBody>
      </p:sp>
      <p:sp>
        <p:nvSpPr>
          <p:cNvPr id="207" name="Texto pergunta"/>
          <p:cNvSpPr txBox="1"/>
          <p:nvPr/>
        </p:nvSpPr>
        <p:spPr>
          <a:xfrm>
            <a:off x="912813" y="15342716"/>
            <a:ext cx="13270614" cy="5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400" dirty="0">
                <a:solidFill>
                  <a:srgbClr val="1F2933"/>
                </a:solidFill>
                <a:latin typeface="Montserrat"/>
              </a:rPr>
              <a:t>Determinar o tamanho de parcela é importante para o planejamento experimental afim de manter o erro experimental em níveis aceitáveis. O aumento no tamanho da parcela, inicialmente, diminui o erro experimental até um determinado ponto, após haverá um ponto de estabilização da variância. Objetivou-se determinar o tamanho ótimo de parcela para avaliar a massa de pluma de algodão das cultivares TMG44B2RF, IMA5801B2RF, IMA5802B2RF e TMG31B3RF, bem como verificar se os tamanhos diferem entre dois métodos de estimação. </a:t>
            </a:r>
            <a:endParaRPr lang="pt-BR" sz="3400" b="1" dirty="0">
              <a:solidFill>
                <a:srgbClr val="1F2933"/>
              </a:solidFill>
              <a:latin typeface="Montserrat"/>
            </a:endParaRPr>
          </a:p>
        </p:txBody>
      </p:sp>
      <p:sp>
        <p:nvSpPr>
          <p:cNvPr id="211" name="Marcador seção"/>
          <p:cNvSpPr/>
          <p:nvPr/>
        </p:nvSpPr>
        <p:spPr>
          <a:xfrm>
            <a:off x="914400" y="21211945"/>
            <a:ext cx="203200" cy="736600"/>
          </a:xfrm>
          <a:prstGeom prst="rect">
            <a:avLst/>
          </a:prstGeom>
          <a:solidFill>
            <a:srgbClr val="F9BD3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212" name="Título seção: 3  Método"/>
          <p:cNvSpPr txBox="1"/>
          <p:nvPr/>
        </p:nvSpPr>
        <p:spPr>
          <a:xfrm>
            <a:off x="1371600" y="21078334"/>
            <a:ext cx="10972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rgbClr val="073A70"/>
                </a:solidFill>
                <a:latin typeface="Montserrat"/>
              </a:rPr>
              <a:t>2  Material e métodos</a:t>
            </a:r>
          </a:p>
        </p:txBody>
      </p:sp>
      <p:sp>
        <p:nvSpPr>
          <p:cNvPr id="213" name="Texto método"/>
          <p:cNvSpPr txBox="1"/>
          <p:nvPr/>
        </p:nvSpPr>
        <p:spPr>
          <a:xfrm>
            <a:off x="912812" y="22263569"/>
            <a:ext cx="13270615" cy="55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spcAft>
                <a:spcPts val="1200"/>
              </a:spcAft>
              <a:buNone/>
            </a:pPr>
            <a:r>
              <a:rPr lang="pt-BR" sz="3400" dirty="0">
                <a:solidFill>
                  <a:schemeClr val="tx1"/>
                </a:solidFill>
                <a:latin typeface="Montserrat"/>
              </a:rPr>
              <a:t>Foram conduzidos quatro ensaios de uniformidade (um para cada cultivar) na área experimental do Departamento de Fitotecnia da Universidade Federal de Santa Maria. Em cada ensaio foi avaliada a massa de pluma de algodão (gramas m</a:t>
            </a:r>
            <a:r>
              <a:rPr lang="pt-BR" sz="3400" baseline="30000" dirty="0">
                <a:solidFill>
                  <a:schemeClr val="tx1"/>
                </a:solidFill>
                <a:latin typeface="Montserrat"/>
              </a:rPr>
              <a:t>-2</a:t>
            </a:r>
            <a:r>
              <a:rPr lang="pt-BR" sz="3400" dirty="0">
                <a:solidFill>
                  <a:schemeClr val="tx1"/>
                </a:solidFill>
                <a:latin typeface="Montserrat"/>
              </a:rPr>
              <a:t>) em 160 unidades básicas de 1 m × 1 m. O tamanho de ótimo de parcela foi determinado pelo modelo linear de resposta com platô (LRP) e modelo quadrático de resposta com platô (QRP).</a:t>
            </a:r>
          </a:p>
        </p:txBody>
      </p:sp>
      <p:sp>
        <p:nvSpPr>
          <p:cNvPr id="215" name="Marcador seção"/>
          <p:cNvSpPr/>
          <p:nvPr/>
        </p:nvSpPr>
        <p:spPr>
          <a:xfrm>
            <a:off x="846391" y="26985622"/>
            <a:ext cx="203200" cy="736600"/>
          </a:xfrm>
          <a:prstGeom prst="rect">
            <a:avLst/>
          </a:prstGeom>
          <a:solidFill>
            <a:srgbClr val="F9BD3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216" name="Título seção: 4  Resultados"/>
          <p:cNvSpPr txBox="1"/>
          <p:nvPr/>
        </p:nvSpPr>
        <p:spPr>
          <a:xfrm>
            <a:off x="1303591" y="26858622"/>
            <a:ext cx="157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rgbClr val="073A70"/>
                </a:solidFill>
                <a:latin typeface="Montserrat"/>
              </a:rPr>
              <a:t>3  Resultados</a:t>
            </a:r>
          </a:p>
        </p:txBody>
      </p:sp>
      <p:sp>
        <p:nvSpPr>
          <p:cNvPr id="233" name="Referências"/>
          <p:cNvSpPr txBox="1"/>
          <p:nvPr/>
        </p:nvSpPr>
        <p:spPr>
          <a:xfrm>
            <a:off x="493114" y="38246031"/>
            <a:ext cx="12206886" cy="3113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2800" b="1" dirty="0">
                <a:solidFill>
                  <a:srgbClr val="073A70"/>
                </a:solidFill>
                <a:latin typeface="Montserrat"/>
              </a:rPr>
              <a:t>Referências</a:t>
            </a:r>
            <a:endParaRPr lang="pt-BR" sz="2400" b="1" dirty="0">
              <a:solidFill>
                <a:srgbClr val="073A70"/>
              </a:solidFill>
              <a:latin typeface="Montserra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52606D"/>
                </a:solidFill>
                <a:latin typeface="Montserrat"/>
              </a:rPr>
              <a:t>Peixoto, A. P. B.; Faria, G. A.; Morais, A. R. D. Modelos de regressão com platô na estimativa do tamanho de parcelas em experimento de conservação in vitro de maracujazeiro. </a:t>
            </a:r>
            <a:r>
              <a:rPr lang="pt-BR" sz="2200" b="1" dirty="0">
                <a:solidFill>
                  <a:srgbClr val="52606D"/>
                </a:solidFill>
                <a:latin typeface="Montserrat"/>
              </a:rPr>
              <a:t>Ciência Rural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, v. 41, n. 1, p. 1097-1913, 2011.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200" dirty="0">
              <a:solidFill>
                <a:srgbClr val="52606D"/>
              </a:solidFill>
              <a:latin typeface="Montserrat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 err="1">
                <a:solidFill>
                  <a:srgbClr val="52606D"/>
                </a:solidFill>
                <a:latin typeface="Montserrat"/>
              </a:rPr>
              <a:t>Storck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 L.; Garcia, D. C.; López, S. J.; </a:t>
            </a:r>
            <a:r>
              <a:rPr lang="pt-BR" sz="2200" dirty="0" err="1">
                <a:solidFill>
                  <a:srgbClr val="52606D"/>
                </a:solidFill>
                <a:latin typeface="Montserrat"/>
              </a:rPr>
              <a:t>Estefanel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, V</a:t>
            </a:r>
            <a:r>
              <a:rPr lang="pt-BR" sz="2200" b="1" dirty="0">
                <a:solidFill>
                  <a:srgbClr val="52606D"/>
                </a:solidFill>
                <a:latin typeface="Montserrat"/>
              </a:rPr>
              <a:t>. Experimentação vegetal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. 3.ed. Santa Maria: UFSM, 2018. 198 p.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200" dirty="0">
              <a:solidFill>
                <a:srgbClr val="52606D"/>
              </a:solidFill>
              <a:latin typeface="Montserrat"/>
            </a:endParaRPr>
          </a:p>
        </p:txBody>
      </p:sp>
      <p:sp>
        <p:nvSpPr>
          <p:cNvPr id="234" name="Agradecimentos"/>
          <p:cNvSpPr txBox="1"/>
          <p:nvPr/>
        </p:nvSpPr>
        <p:spPr>
          <a:xfrm>
            <a:off x="13194700" y="39402363"/>
            <a:ext cx="16587399" cy="21244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2800" b="1" dirty="0">
                <a:solidFill>
                  <a:srgbClr val="073A70"/>
                </a:solidFill>
                <a:latin typeface="Montserrat"/>
              </a:rPr>
              <a:t>Agradecimentos</a:t>
            </a:r>
            <a:endParaRPr lang="pt-BR" sz="2400" b="1" dirty="0">
              <a:solidFill>
                <a:srgbClr val="073A70"/>
              </a:solidFill>
              <a:latin typeface="Montserra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52606D"/>
                </a:solidFill>
                <a:latin typeface="Montserrat"/>
              </a:rPr>
              <a:t>Agradecimentos ao CNPq (Processo 304878/2022-7), PIBIC/CNPq/UFSM, PROBIC/FAPERGS/UFSM e Capes (</a:t>
            </a:r>
            <a:r>
              <a:rPr lang="pt-BR" sz="2200" dirty="0" err="1">
                <a:solidFill>
                  <a:srgbClr val="52606D"/>
                </a:solidFill>
                <a:latin typeface="Montserrat"/>
              </a:rPr>
              <a:t>Finance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 </a:t>
            </a:r>
            <a:r>
              <a:rPr lang="pt-BR" sz="2200" dirty="0" err="1">
                <a:solidFill>
                  <a:srgbClr val="52606D"/>
                </a:solidFill>
                <a:latin typeface="Montserrat"/>
              </a:rPr>
              <a:t>Code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 001), pelo auxílio financeiro e bolsas concedidas aos autores.. A Universidade Federal de Santa Maria e ao Departamento de </a:t>
            </a:r>
            <a:r>
              <a:rPr lang="pt-BR" sz="2200" dirty="0" err="1">
                <a:solidFill>
                  <a:srgbClr val="52606D"/>
                </a:solidFill>
                <a:latin typeface="Montserrat"/>
              </a:rPr>
              <a:t>Fitotecnica</a:t>
            </a:r>
            <a:r>
              <a:rPr lang="pt-BR" sz="2200" dirty="0">
                <a:solidFill>
                  <a:srgbClr val="52606D"/>
                </a:solidFill>
                <a:latin typeface="Montserrat"/>
              </a:rPr>
              <a:t> pela estrutura.  estudantes bolsistas e voluntários pelo auxílio na coleta de dados.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7E1F29-0434-48FA-DE18-D72ACB1D2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4385" y="380309"/>
            <a:ext cx="5159941" cy="5159941"/>
          </a:xfrm>
          <a:prstGeom prst="rect">
            <a:avLst/>
          </a:prstGeom>
        </p:spPr>
      </p:pic>
      <p:sp>
        <p:nvSpPr>
          <p:cNvPr id="18" name="Legenda Tabela 1">
            <a:extLst>
              <a:ext uri="{FF2B5EF4-FFF2-40B4-BE49-F238E27FC236}">
                <a16:creationId xmlns:a16="http://schemas.microsoft.com/office/drawing/2014/main" id="{7E2EFA9D-87E0-D0EA-6B12-47143A189DB4}"/>
              </a:ext>
            </a:extLst>
          </p:cNvPr>
          <p:cNvSpPr txBox="1"/>
          <p:nvPr/>
        </p:nvSpPr>
        <p:spPr>
          <a:xfrm>
            <a:off x="912812" y="28013711"/>
            <a:ext cx="15660000" cy="1176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73A70"/>
                </a:solidFill>
                <a:latin typeface="Montserrat"/>
              </a:rPr>
              <a:t>Tabela 1. </a:t>
            </a:r>
            <a:r>
              <a:rPr lang="pt-BR" sz="2800" dirty="0">
                <a:solidFill>
                  <a:srgbClr val="52606D"/>
                </a:solidFill>
                <a:latin typeface="Montserrat"/>
              </a:rPr>
              <a:t>Estimativas dos parâmetros dos modelos linear de resposta com platô e quadrático de resposta com platô.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ED8AD65-202F-EFBD-08B1-4EC10A8BA08F}"/>
              </a:ext>
            </a:extLst>
          </p:cNvPr>
          <p:cNvSpPr txBox="1"/>
          <p:nvPr/>
        </p:nvSpPr>
        <p:spPr>
          <a:xfrm>
            <a:off x="643191" y="36892007"/>
            <a:ext cx="160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kern="100" dirty="0"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*Médias seguidas pela mesma letra minúscula na coluna não diferem estatisticamente pelo teste t de </a:t>
            </a:r>
            <a:r>
              <a:rPr lang="pt-BR" sz="2000" i="1" kern="100" dirty="0" err="1"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pt-BR" sz="2000" kern="100" dirty="0"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para amostras independentes a 5% de significância,  via </a:t>
            </a:r>
            <a:r>
              <a:rPr lang="pt-BR" sz="2000" i="1" kern="100" dirty="0" err="1"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pt-BR" sz="2000" kern="100" dirty="0"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com 10.000 reamostragens.</a:t>
            </a:r>
            <a:endParaRPr lang="pt-BR" sz="2000" b="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Legenda Tabela 1">
            <a:extLst>
              <a:ext uri="{FF2B5EF4-FFF2-40B4-BE49-F238E27FC236}">
                <a16:creationId xmlns:a16="http://schemas.microsoft.com/office/drawing/2014/main" id="{C34B56A3-FB1B-E851-7475-1F71FE92FD20}"/>
              </a:ext>
            </a:extLst>
          </p:cNvPr>
          <p:cNvSpPr txBox="1"/>
          <p:nvPr/>
        </p:nvSpPr>
        <p:spPr>
          <a:xfrm>
            <a:off x="17003688" y="22179862"/>
            <a:ext cx="13068000" cy="105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73A70"/>
                </a:solidFill>
                <a:latin typeface="Montserrat"/>
              </a:rPr>
              <a:t>Figura 1. </a:t>
            </a:r>
            <a:r>
              <a:rPr lang="pt-BR" sz="2400" dirty="0">
                <a:solidFill>
                  <a:srgbClr val="52606D"/>
                </a:solidFill>
                <a:latin typeface="Montserrat"/>
              </a:rPr>
              <a:t>Tamanho ótimo de parcela pelo modelo linear de resposta com platô.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71CD62A-49B0-52C2-BCA7-159A224EBDF1}"/>
              </a:ext>
            </a:extLst>
          </p:cNvPr>
          <p:cNvSpPr/>
          <p:nvPr/>
        </p:nvSpPr>
        <p:spPr>
          <a:xfrm>
            <a:off x="24003000" y="21376484"/>
            <a:ext cx="672956" cy="634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1A98236-39AB-5B02-CB00-D6DE41A3D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421771"/>
              </p:ext>
            </p:extLst>
          </p:nvPr>
        </p:nvGraphicFramePr>
        <p:xfrm>
          <a:off x="643191" y="29439473"/>
          <a:ext cx="16171391" cy="72106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5492">
                  <a:extLst>
                    <a:ext uri="{9D8B030D-6E8A-4147-A177-3AD203B41FA5}">
                      <a16:colId xmlns:a16="http://schemas.microsoft.com/office/drawing/2014/main" val="3235120982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1920573191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82878220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2886970686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498399038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31003677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875103150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1918878207"/>
                    </a:ext>
                  </a:extLst>
                </a:gridCol>
                <a:gridCol w="1469278">
                  <a:extLst>
                    <a:ext uri="{9D8B030D-6E8A-4147-A177-3AD203B41FA5}">
                      <a16:colId xmlns:a16="http://schemas.microsoft.com/office/drawing/2014/main" val="3073131408"/>
                    </a:ext>
                  </a:extLst>
                </a:gridCol>
                <a:gridCol w="1671675">
                  <a:extLst>
                    <a:ext uri="{9D8B030D-6E8A-4147-A177-3AD203B41FA5}">
                      <a16:colId xmlns:a16="http://schemas.microsoft.com/office/drawing/2014/main" val="1156755397"/>
                    </a:ext>
                  </a:extLst>
                </a:gridCol>
              </a:tblGrid>
              <a:tr h="741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Cultivar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b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c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R</a:t>
                      </a:r>
                      <a:r>
                        <a:rPr lang="pt-BR" sz="2800" u="none" strike="noStrike" baseline="30000" dirty="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endParaRPr lang="pt-BR" sz="2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AIC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BIC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RMSE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 err="1">
                          <a:effectLst/>
                          <a:latin typeface="Montserrat" panose="00000500000000000000" pitchFamily="2" charset="0"/>
                        </a:rPr>
                        <a:t>Xo</a:t>
                      </a: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 (m</a:t>
                      </a:r>
                      <a:r>
                        <a:rPr lang="pt-BR" sz="2800" u="none" strike="noStrike" baseline="30000" dirty="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)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 err="1">
                          <a:effectLst/>
                          <a:latin typeface="Montserrat" panose="00000500000000000000" pitchFamily="2" charset="0"/>
                        </a:rPr>
                        <a:t>CVxo</a:t>
                      </a: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 (%)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61038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RLP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829532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TMG44B2RF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20.42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-1.26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0.76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90.11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93.20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3.15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13.23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3.68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4827983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IMA5801B2RF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17.34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-0.91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0.81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71.46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74.55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1.76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12.11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6.28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2926368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IMA5802B2RF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16.44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-1.04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0.77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78.27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81.36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2.17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11.77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4.23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1788926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TMG31B3RF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18.74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-1.13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0.84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76.53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79.62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2.06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12.68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4.47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208917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Média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0.80a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79.09a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82.18a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2.29a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12.45b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4.67a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532376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RQP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801106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TMG44B2RF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21.90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-1.89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0.05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0.78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89.01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92.10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3.04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19.32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3.60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8619612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IMA5801B2RF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18.43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-1.41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0.04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0.83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69.83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72.92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1.67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17.20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6.33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482008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IMA5802B2RF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18.05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-1.74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0.06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0.80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76.14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79.23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2.03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15.72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4.40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7241659"/>
                  </a:ext>
                </a:extLst>
              </a:tr>
              <a:tr h="534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TMG31B3RF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20.07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-1.70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0.05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0.87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73.73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>
                          <a:effectLst/>
                          <a:latin typeface="Montserrat" panose="00000500000000000000" pitchFamily="2" charset="0"/>
                        </a:rPr>
                        <a:t>76.82</a:t>
                      </a:r>
                      <a:endParaRPr lang="pt-BR" sz="2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1.89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18.40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u="none" strike="noStrike" dirty="0">
                          <a:effectLst/>
                          <a:latin typeface="Montserrat" panose="00000500000000000000" pitchFamily="2" charset="0"/>
                        </a:rPr>
                        <a:t>4.42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356773"/>
                  </a:ext>
                </a:extLst>
              </a:tr>
              <a:tr h="585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Média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0.82a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77.18a 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80.27a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2.16a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17.66a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effectLst/>
                          <a:latin typeface="Montserrat" panose="00000500000000000000" pitchFamily="2" charset="0"/>
                        </a:rPr>
                        <a:t>4.69a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21091"/>
                  </a:ext>
                </a:extLst>
              </a:tr>
            </a:tbl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E142FCEA-D484-4B11-B5FB-E2119C885B9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7930589" y="13607371"/>
            <a:ext cx="10144800" cy="85428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98C9A19-AFD4-E491-ECCF-F53A6B9B0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0814" y="22777885"/>
            <a:ext cx="10144575" cy="8542800"/>
          </a:xfrm>
          <a:prstGeom prst="rect">
            <a:avLst/>
          </a:prstGeom>
        </p:spPr>
      </p:pic>
      <p:sp>
        <p:nvSpPr>
          <p:cNvPr id="33" name="Legenda Tabela 1">
            <a:extLst>
              <a:ext uri="{FF2B5EF4-FFF2-40B4-BE49-F238E27FC236}">
                <a16:creationId xmlns:a16="http://schemas.microsoft.com/office/drawing/2014/main" id="{C984671D-E993-3D20-B950-7C3782824E50}"/>
              </a:ext>
            </a:extLst>
          </p:cNvPr>
          <p:cNvSpPr txBox="1"/>
          <p:nvPr/>
        </p:nvSpPr>
        <p:spPr>
          <a:xfrm>
            <a:off x="17052176" y="31365672"/>
            <a:ext cx="13067415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73A70"/>
                </a:solidFill>
                <a:latin typeface="Montserrat"/>
              </a:rPr>
              <a:t>Figura 2. </a:t>
            </a:r>
            <a:r>
              <a:rPr lang="pt-BR" sz="2400" dirty="0">
                <a:solidFill>
                  <a:srgbClr val="52606D"/>
                </a:solidFill>
                <a:latin typeface="Montserrat"/>
              </a:rPr>
              <a:t>Tamanho ótimo de parcela pelo modelo quadrático de resposta com platô.</a:t>
            </a:r>
          </a:p>
        </p:txBody>
      </p:sp>
      <p:sp>
        <p:nvSpPr>
          <p:cNvPr id="42" name="Marcador seção">
            <a:extLst>
              <a:ext uri="{FF2B5EF4-FFF2-40B4-BE49-F238E27FC236}">
                <a16:creationId xmlns:a16="http://schemas.microsoft.com/office/drawing/2014/main" id="{43A3F6E4-7E29-1338-E4B7-3C92AF71DC01}"/>
              </a:ext>
            </a:extLst>
          </p:cNvPr>
          <p:cNvSpPr/>
          <p:nvPr/>
        </p:nvSpPr>
        <p:spPr>
          <a:xfrm>
            <a:off x="18089139" y="32313910"/>
            <a:ext cx="201600" cy="736600"/>
          </a:xfrm>
          <a:prstGeom prst="rect">
            <a:avLst/>
          </a:prstGeom>
          <a:solidFill>
            <a:srgbClr val="F9BD3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44" name="Título seção: 5  Conclusões">
            <a:extLst>
              <a:ext uri="{FF2B5EF4-FFF2-40B4-BE49-F238E27FC236}">
                <a16:creationId xmlns:a16="http://schemas.microsoft.com/office/drawing/2014/main" id="{08EC6E5F-D4C1-3741-EA76-0E248081124D}"/>
              </a:ext>
            </a:extLst>
          </p:cNvPr>
          <p:cNvSpPr txBox="1"/>
          <p:nvPr/>
        </p:nvSpPr>
        <p:spPr>
          <a:xfrm>
            <a:off x="18546340" y="32089267"/>
            <a:ext cx="11326813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rgbClr val="073A70"/>
                </a:solidFill>
                <a:latin typeface="Montserrat"/>
              </a:rPr>
              <a:t>4  Conclusões</a:t>
            </a:r>
          </a:p>
        </p:txBody>
      </p:sp>
      <p:sp>
        <p:nvSpPr>
          <p:cNvPr id="46" name="Cartão conclusão 1">
            <a:extLst>
              <a:ext uri="{FF2B5EF4-FFF2-40B4-BE49-F238E27FC236}">
                <a16:creationId xmlns:a16="http://schemas.microsoft.com/office/drawing/2014/main" id="{CB1A15D8-413D-104F-B6AE-B3E849FDA74D}"/>
              </a:ext>
            </a:extLst>
          </p:cNvPr>
          <p:cNvSpPr/>
          <p:nvPr/>
        </p:nvSpPr>
        <p:spPr>
          <a:xfrm>
            <a:off x="17935151" y="33557378"/>
            <a:ext cx="11556000" cy="5724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 dirty="0"/>
          </a:p>
        </p:txBody>
      </p:sp>
      <p:sp>
        <p:nvSpPr>
          <p:cNvPr id="48" name="Texto conclusão 1">
            <a:extLst>
              <a:ext uri="{FF2B5EF4-FFF2-40B4-BE49-F238E27FC236}">
                <a16:creationId xmlns:a16="http://schemas.microsoft.com/office/drawing/2014/main" id="{2DEE4942-7E32-2EC8-5402-2AF155233EA6}"/>
              </a:ext>
            </a:extLst>
          </p:cNvPr>
          <p:cNvSpPr txBox="1"/>
          <p:nvPr/>
        </p:nvSpPr>
        <p:spPr>
          <a:xfrm>
            <a:off x="18357540" y="33367988"/>
            <a:ext cx="10944000" cy="6102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1F2933"/>
                </a:solidFill>
                <a:latin typeface="Montserrat"/>
              </a:rPr>
              <a:t>O tamanho ótimo de parcela foi maior para o modelo QRP com média de 17,66 m</a:t>
            </a:r>
            <a:r>
              <a:rPr lang="pt-BR" sz="3400" baseline="30000" dirty="0">
                <a:solidFill>
                  <a:srgbClr val="1F2933"/>
                </a:solidFill>
                <a:latin typeface="Montserrat"/>
              </a:rPr>
              <a:t>2</a:t>
            </a:r>
            <a:r>
              <a:rPr lang="pt-BR" sz="3400" dirty="0">
                <a:solidFill>
                  <a:srgbClr val="1F2933"/>
                </a:solidFill>
                <a:latin typeface="Montserrat"/>
              </a:rPr>
              <a:t>, enquanto no LRP a média foi de 12,45 m2. Os coeficientes de variação no tamanho ótimo de parcela foram 4,67% e 4,69% nos modelos LRP e QRP, respectivamente, indicando precisão similar. Assim, o tamanho ótimo de parcela para avaliar a massa de pluma de algodão é 12,45 m</a:t>
            </a:r>
            <a:r>
              <a:rPr lang="pt-BR" sz="3400" baseline="30000" dirty="0">
                <a:solidFill>
                  <a:srgbClr val="1F2933"/>
                </a:solidFill>
                <a:latin typeface="Montserrat"/>
              </a:rPr>
              <a:t>2</a:t>
            </a:r>
            <a:r>
              <a:rPr lang="pt-BR" sz="3400" dirty="0">
                <a:solidFill>
                  <a:srgbClr val="1F2933"/>
                </a:solidFill>
                <a:latin typeface="Montserrat"/>
              </a:rPr>
              <a:t> e a precisão experimental se estabiliza a partir deste tamanho.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DC46642-EAC7-C363-F5C5-021580B76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07625" y="8075418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261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002021-4D9D-8F48-8D8A-4C1F6CED139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bcde749-64c1-4a85-8f1d-0554b400ed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786</Words>
  <Application>Microsoft Office PowerPoint</Application>
  <PresentationFormat>Personalizar</PresentationFormat>
  <Paragraphs>127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Montserrat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Lixinski Silveira</dc:creator>
  <cp:lastModifiedBy>Revisor</cp:lastModifiedBy>
  <cp:revision>23</cp:revision>
  <dcterms:created xsi:type="dcterms:W3CDTF">2025-06-10T00:30:30Z</dcterms:created>
  <dcterms:modified xsi:type="dcterms:W3CDTF">2026-10-22T22:08:44Z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146C3BCF2EF148AF96984A326279C5F6_12</vt:lpwstr>
  </property>
  <property fmtid="{D5CDD505-2E9C-101B-9397-08002B2CF9AE}" pid="3" name="KSOProductBuildVer">
    <vt:lpwstr>1046-12.2.0.21179</vt:lpwstr>
  </property>
</Properties>
</file>